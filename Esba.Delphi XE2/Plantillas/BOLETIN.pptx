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6858000" cy="9907588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7FD17E9-90A0-4056-98A4-674340DBA39A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42720" y="395280"/>
            <a:ext cx="6171840" cy="16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42720" y="2318040"/>
            <a:ext cx="6171840" cy="57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1B755F8-84E4-49B2-8290-42F5ACCE6F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42720" y="395280"/>
            <a:ext cx="6171840" cy="16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42720" y="2318040"/>
            <a:ext cx="6171840" cy="57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C6614BA-D169-4861-877B-2156F605FE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42720" y="395280"/>
            <a:ext cx="6171840" cy="16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42720" y="2318040"/>
            <a:ext cx="3011760" cy="57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505320" y="2318040"/>
            <a:ext cx="3011760" cy="57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484097D-638F-4F3F-AC9C-A2F6D2E333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42720" y="395280"/>
            <a:ext cx="6171840" cy="16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D1EC9F7-C1A4-4824-8872-F5540B1232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342720" y="395280"/>
            <a:ext cx="6171840" cy="766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BC43E66-6EA6-4601-B6C4-72145F7272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42720" y="395280"/>
            <a:ext cx="6171840" cy="16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42720" y="2318040"/>
            <a:ext cx="301176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505320" y="2318040"/>
            <a:ext cx="3011760" cy="57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42720" y="5319360"/>
            <a:ext cx="301176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AAD923D-FE8D-4641-86FB-6D62BB4C5D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42720" y="395280"/>
            <a:ext cx="6171840" cy="16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42720" y="2318040"/>
            <a:ext cx="3011760" cy="57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505320" y="2318040"/>
            <a:ext cx="301176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505320" y="5319360"/>
            <a:ext cx="301176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B9EF940-A2E7-4088-B27F-24E7378668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42720" y="395280"/>
            <a:ext cx="6171840" cy="16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42720" y="2318040"/>
            <a:ext cx="301176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505320" y="2318040"/>
            <a:ext cx="301176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42720" y="5319360"/>
            <a:ext cx="617184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214308B-EC07-438C-8614-DE88F5BF3B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42720" y="395280"/>
            <a:ext cx="6171840" cy="16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42720" y="2318040"/>
            <a:ext cx="617184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42720" y="5319360"/>
            <a:ext cx="617184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A47CC54-CCFF-40E3-8FF2-0E017BD764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42720" y="395280"/>
            <a:ext cx="6171840" cy="16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42720" y="2318040"/>
            <a:ext cx="301176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505320" y="2318040"/>
            <a:ext cx="301176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42720" y="5319360"/>
            <a:ext cx="301176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505320" y="5319360"/>
            <a:ext cx="301176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1558412-7A79-47CD-8ACF-6F1F6B3935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42720" y="395280"/>
            <a:ext cx="6171840" cy="16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42720" y="2318040"/>
            <a:ext cx="198720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429640" y="2318040"/>
            <a:ext cx="198720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16560" y="2318040"/>
            <a:ext cx="198720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42720" y="5319360"/>
            <a:ext cx="198720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429640" y="5319360"/>
            <a:ext cx="198720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516560" y="5319360"/>
            <a:ext cx="1987200" cy="274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0999C2F-491B-4D0A-8A17-545620CADBE6}" type="slidenum">
              <a:t>&lt;#&gt;</a:t>
            </a:fld>
          </a:p>
        </p:txBody>
      </p:sp>
      <p:sp>
        <p:nvSpPr>
          <p:cNvPr id="10" name="PlaceHolder 9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2343240" y="9182160"/>
            <a:ext cx="2171160" cy="526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sldNum" idx="1"/>
          </p:nvPr>
        </p:nvSpPr>
        <p:spPr>
          <a:xfrm>
            <a:off x="4915080" y="9181800"/>
            <a:ext cx="1598040" cy="52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es-CO" sz="1200" spc="-1" strike="noStrike">
                <a:solidFill>
                  <a:srgbClr val="898989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fld id="{A4D03885-A102-48C9-ADE1-601F8441F923}" type="slidenum">
              <a:rPr b="0" lang="es-CO" sz="1200" spc="-1" strike="noStrike">
                <a:solidFill>
                  <a:srgbClr val="898989"/>
                </a:solidFill>
                <a:latin typeface="Calibri"/>
                <a:ea typeface="DejaVu Sans"/>
              </a:rPr>
              <a:t>&lt;número&gt;</a:t>
            </a:fld>
            <a:endParaRPr b="0" lang="es-AR" sz="1200" spc="-1" strike="noStrike"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2"/>
          </p:nvPr>
        </p:nvSpPr>
        <p:spPr>
          <a:xfrm>
            <a:off x="343080" y="9181800"/>
            <a:ext cx="1598040" cy="52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>
              <a:defRPr b="0" lang="es-AR" sz="1400" spc="-1" strike="noStrike">
                <a:latin typeface="Times New Roman"/>
              </a:defRPr>
            </a:lvl1pPr>
          </a:lstStyle>
          <a:p>
            <a:r>
              <a:rPr b="0" lang="es-AR" sz="1400" spc="-1" strike="noStrike">
                <a:latin typeface="Times New Roman"/>
              </a:rPr>
              <a:t>&lt;fecha/hora&gt;</a:t>
            </a:r>
            <a:endParaRPr b="0" lang="es-AR" sz="1400" spc="-1" strike="noStrike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342720" y="395280"/>
            <a:ext cx="6171840" cy="16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s-AR" sz="4400" spc="-1" strike="noStrike">
                <a:latin typeface="Arial"/>
              </a:rPr>
              <a:t>Pulse para editar el formato del texto de título</a:t>
            </a:r>
            <a:endParaRPr b="0" lang="es-AR" sz="4400" spc="-1" strike="noStrike"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342720" y="2318040"/>
            <a:ext cx="6171840" cy="57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latin typeface="Arial"/>
              </a:rPr>
              <a:t>Pulse para editar el formato de texto del esquema</a:t>
            </a:r>
            <a:endParaRPr b="0" lang="es-A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latin typeface="Arial"/>
              </a:rPr>
              <a:t>Segundo nivel del esquema</a:t>
            </a:r>
            <a:endParaRPr b="0" lang="es-A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latin typeface="Arial"/>
              </a:rPr>
              <a:t>Tercer nivel del esquema</a:t>
            </a:r>
            <a:endParaRPr b="0" lang="es-A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latin typeface="Arial"/>
              </a:rPr>
              <a:t>Cuarto nivel del esquema</a:t>
            </a:r>
            <a:endParaRPr b="0" lang="es-A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latin typeface="Arial"/>
              </a:rPr>
              <a:t>Quinto nivel del esquema</a:t>
            </a:r>
            <a:endParaRPr b="0" lang="es-A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latin typeface="Arial"/>
              </a:rPr>
              <a:t>Sexto nivel del esquema</a:t>
            </a:r>
            <a:endParaRPr b="0" lang="es-A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latin typeface="Arial"/>
              </a:rPr>
              <a:t>Séptimo nivel del esquema</a:t>
            </a:r>
            <a:endParaRPr b="0" lang="es-A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1800360" y="1084320"/>
            <a:ext cx="3310920" cy="3809520"/>
          </a:xfrm>
          <a:prstGeom prst="rect">
            <a:avLst/>
          </a:prstGeom>
          <a:ln w="0">
            <a:noFill/>
          </a:ln>
        </p:spPr>
      </p:pic>
      <p:pic>
        <p:nvPicPr>
          <p:cNvPr id="42" name="" descr=""/>
          <p:cNvPicPr/>
          <p:nvPr/>
        </p:nvPicPr>
        <p:blipFill>
          <a:blip r:embed="rId2"/>
          <a:stretch/>
        </p:blipFill>
        <p:spPr>
          <a:xfrm>
            <a:off x="1801800" y="5099040"/>
            <a:ext cx="3311280" cy="38095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43" name=""/>
          <p:cNvGraphicFramePr/>
          <p:nvPr/>
        </p:nvGraphicFramePr>
        <p:xfrm>
          <a:off x="160200" y="1797120"/>
          <a:ext cx="6582960" cy="2807640"/>
        </p:xfrm>
        <a:graphic>
          <a:graphicData uri="http://schemas.openxmlformats.org/drawingml/2006/table">
            <a:tbl>
              <a:tblPr/>
              <a:tblGrid>
                <a:gridCol w="2094480"/>
                <a:gridCol w="554400"/>
                <a:gridCol w="555480"/>
                <a:gridCol w="555840"/>
                <a:gridCol w="633600"/>
                <a:gridCol w="1111680"/>
                <a:gridCol w="1077840"/>
              </a:tblGrid>
              <a:tr h="228600">
                <a:tc>
                  <a:tcPr anchor="t" marL="91440" marR="91440">
                    <a:lnL>
                      <a:noFill/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9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CALIFICACIONES</a:t>
                      </a:r>
                      <a:endParaRPr b="0" lang="es-AR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ASIGNATURAS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1º CUAT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2º CUAT.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NOTA. FINAL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CALIFICACION DEFINITIVA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CONDICIÓN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84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704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8576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12760">
                <a:tc gridSpan="4"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PROMEDIO GENERAL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noFill/>
                    </a:lnR>
                    <a:lnT w="2880">
                      <a:solidFill>
                        <a:srgbClr val="000000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 w="2880">
                      <a:solidFill>
                        <a:srgbClr val="000000"/>
                      </a:solidFill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4" name=""/>
          <p:cNvSpPr/>
          <p:nvPr/>
        </p:nvSpPr>
        <p:spPr>
          <a:xfrm>
            <a:off x="115920" y="212760"/>
            <a:ext cx="6625800" cy="826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600" spc="-1" strike="noStrike">
                <a:solidFill>
                  <a:srgbClr val="000000"/>
                </a:solidFill>
                <a:latin typeface="Futura XBlk BT"/>
                <a:ea typeface="DejaVu Sans"/>
              </a:rPr>
              <a:t>INSTITUTO DE ESTUDIOS SUPERIORES DE BUENOS AIRES</a:t>
            </a:r>
            <a:endParaRPr b="0" lang="es-AR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600" spc="-1" strike="noStrike">
                <a:solidFill>
                  <a:srgbClr val="000000"/>
                </a:solidFill>
                <a:latin typeface="Futura XBlk BT"/>
                <a:ea typeface="DejaVu Sans"/>
              </a:rPr>
              <a:t>INCORPORADO A LA ENSEÑANZA OFICIAL A-781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17360" y="1085760"/>
            <a:ext cx="6624360" cy="601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APELLIDO Y NOMBRE:</a:t>
            </a:r>
            <a:endParaRPr b="0" lang="es-AR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DOCUMENTO:</a:t>
            </a:r>
            <a:endParaRPr b="0" lang="es-AR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AÑO: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TURNO: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DIVISIÓN: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CICLO LECTIVO:</a:t>
            </a:r>
            <a:endParaRPr b="0" lang="es-AR" sz="1100" spc="-1" strike="noStrike"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15920" y="814320"/>
            <a:ext cx="6625800" cy="306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400" spc="-1" strike="noStrike">
                <a:solidFill>
                  <a:srgbClr val="000000"/>
                </a:solidFill>
                <a:latin typeface="Aldine401 BT"/>
                <a:ea typeface="DejaVu Sans"/>
              </a:rPr>
              <a:t>BOLETIN DE CALIFICACIONES</a:t>
            </a:r>
            <a:endParaRPr b="0" lang="es-AR" sz="1400" spc="-1" strike="noStrike">
              <a:latin typeface="Arial"/>
            </a:endParaRPr>
          </a:p>
        </p:txBody>
      </p:sp>
      <p:graphicFrame>
        <p:nvGraphicFramePr>
          <p:cNvPr id="47" name=""/>
          <p:cNvGraphicFramePr/>
          <p:nvPr/>
        </p:nvGraphicFramePr>
        <p:xfrm>
          <a:off x="163440" y="4737240"/>
          <a:ext cx="6554160" cy="3261600"/>
        </p:xfrm>
        <a:graphic>
          <a:graphicData uri="http://schemas.openxmlformats.org/drawingml/2006/table">
            <a:tbl>
              <a:tblPr/>
              <a:tblGrid>
                <a:gridCol w="2257920"/>
                <a:gridCol w="728640"/>
                <a:gridCol w="1456200"/>
                <a:gridCol w="729000"/>
                <a:gridCol w="138276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ASIGNATURA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REC. DIC.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FEB. MAR.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704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EQUIVALENCIA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REC. DIC.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FEB. MAR.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16704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8" name=""/>
          <p:cNvGraphicFramePr/>
          <p:nvPr/>
        </p:nvGraphicFramePr>
        <p:xfrm>
          <a:off x="171360" y="7881840"/>
          <a:ext cx="1745640" cy="1031400"/>
        </p:xfrm>
        <a:graphic>
          <a:graphicData uri="http://schemas.openxmlformats.org/drawingml/2006/table">
            <a:tbl>
              <a:tblPr/>
              <a:tblGrid>
                <a:gridCol w="1046880"/>
                <a:gridCol w="699120"/>
              </a:tblGrid>
              <a:tr h="257760">
                <a:tc gridSpan="2"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INASISTENCIAS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0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JUSTIFICADAS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7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0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INJUSTIFICADAS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7400"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TOTALES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"/>
          <p:cNvGraphicFramePr/>
          <p:nvPr/>
        </p:nvGraphicFramePr>
        <p:xfrm>
          <a:off x="2000160" y="7881840"/>
          <a:ext cx="4725360" cy="1031400"/>
        </p:xfrm>
        <a:graphic>
          <a:graphicData uri="http://schemas.openxmlformats.org/drawingml/2006/table">
            <a:tbl>
              <a:tblPr/>
              <a:tblGrid>
                <a:gridCol w="3249000"/>
                <a:gridCol w="1476720"/>
              </a:tblGrid>
              <a:tr h="1983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SANCIONES DISCIPLINARIAS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TOTAL DEL AÑO: 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833400">
                <a:tc gridSpan="2"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grpSp>
        <p:nvGrpSpPr>
          <p:cNvPr id="50" name=""/>
          <p:cNvGrpSpPr/>
          <p:nvPr/>
        </p:nvGrpSpPr>
        <p:grpSpPr>
          <a:xfrm>
            <a:off x="4797360" y="9468000"/>
            <a:ext cx="1293840" cy="217800"/>
            <a:chOff x="4797360" y="9468000"/>
            <a:chExt cx="1293840" cy="217800"/>
          </a:xfrm>
        </p:grpSpPr>
        <p:sp>
          <p:nvSpPr>
            <p:cNvPr id="51" name=""/>
            <p:cNvSpPr/>
            <p:nvPr/>
          </p:nvSpPr>
          <p:spPr>
            <a:xfrm>
              <a:off x="4797360" y="9470880"/>
              <a:ext cx="1293480" cy="21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buNone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333080"/>
                  <a:tab algn="l" pos="10782360"/>
                </a:tabLst>
              </a:pPr>
              <a:r>
                <a:rPr b="0" lang="es-CO" sz="800" spc="-1" strike="noStrike">
                  <a:solidFill>
                    <a:srgbClr val="000000"/>
                  </a:solidFill>
                  <a:latin typeface="Aldine401 BT"/>
                  <a:ea typeface="DejaVu Sans"/>
                </a:rPr>
                <a:t>FIRMA RECTOR/A</a:t>
              </a:r>
              <a:endParaRPr b="0" lang="es-AR" sz="800" spc="-1" strike="noStrike"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4797360" y="9468000"/>
              <a:ext cx="129384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3" name=""/>
          <p:cNvGrpSpPr/>
          <p:nvPr/>
        </p:nvGrpSpPr>
        <p:grpSpPr>
          <a:xfrm>
            <a:off x="620640" y="9468000"/>
            <a:ext cx="1654200" cy="338040"/>
            <a:chOff x="620640" y="9468000"/>
            <a:chExt cx="1654200" cy="338040"/>
          </a:xfrm>
        </p:grpSpPr>
        <p:sp>
          <p:nvSpPr>
            <p:cNvPr id="54" name=""/>
            <p:cNvSpPr/>
            <p:nvPr/>
          </p:nvSpPr>
          <p:spPr>
            <a:xfrm>
              <a:off x="620640" y="9469440"/>
              <a:ext cx="1653840" cy="336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buNone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333080"/>
                  <a:tab algn="l" pos="10782360"/>
                </a:tabLst>
              </a:pPr>
              <a:r>
                <a:rPr b="0" lang="es-CO" sz="800" spc="-1" strike="noStrike">
                  <a:solidFill>
                    <a:srgbClr val="000000"/>
                  </a:solidFill>
                  <a:latin typeface="Aldine401 BT"/>
                  <a:ea typeface="DejaVu Sans"/>
                </a:rPr>
                <a:t>FIRMA  PADRE/MADRE/TUTOR</a:t>
              </a:r>
              <a:endParaRPr b="0" lang="es-AR" sz="800" spc="-1" strike="noStrike"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620640" y="9468000"/>
              <a:ext cx="165420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1800360" y="1084320"/>
            <a:ext cx="3310920" cy="3809520"/>
          </a:xfrm>
          <a:prstGeom prst="rect">
            <a:avLst/>
          </a:prstGeom>
          <a:ln w="0">
            <a:noFill/>
          </a:ln>
        </p:spPr>
      </p:pic>
      <p:pic>
        <p:nvPicPr>
          <p:cNvPr id="57" name="" descr=""/>
          <p:cNvPicPr/>
          <p:nvPr/>
        </p:nvPicPr>
        <p:blipFill>
          <a:blip r:embed="rId2"/>
          <a:stretch/>
        </p:blipFill>
        <p:spPr>
          <a:xfrm>
            <a:off x="1801800" y="5099040"/>
            <a:ext cx="3311280" cy="3809520"/>
          </a:xfrm>
          <a:prstGeom prst="rect">
            <a:avLst/>
          </a:prstGeom>
          <a:ln w="0">
            <a:noFill/>
          </a:ln>
        </p:spPr>
      </p:pic>
      <p:sp>
        <p:nvSpPr>
          <p:cNvPr id="58" name=""/>
          <p:cNvSpPr/>
          <p:nvPr/>
        </p:nvSpPr>
        <p:spPr>
          <a:xfrm>
            <a:off x="115920" y="177840"/>
            <a:ext cx="2881080" cy="823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INSTITUTO DE ESTUDIOS SUPERIORES DE BUENOS AIRES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117360" y="1085760"/>
            <a:ext cx="6624360" cy="601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APELLIDO Y NOMBRE:</a:t>
            </a:r>
            <a:endParaRPr b="0" lang="es-AR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DOCUMENTO:</a:t>
            </a:r>
            <a:endParaRPr b="0" lang="es-AR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AÑO: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TURNO: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DIVISIÓN: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100" spc="-1" strike="noStrike">
                <a:solidFill>
                  <a:srgbClr val="000000"/>
                </a:solidFill>
                <a:latin typeface="Aldine401 BT"/>
                <a:ea typeface="DejaVu Sans"/>
              </a:rPr>
              <a:t>CICLO LECTIVO:</a:t>
            </a:r>
            <a:endParaRPr b="0" lang="es-AR" sz="1100" spc="-1" strike="noStrike"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115920" y="814320"/>
            <a:ext cx="6625800" cy="306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400" spc="-1" strike="noStrike">
                <a:solidFill>
                  <a:srgbClr val="000000"/>
                </a:solidFill>
                <a:latin typeface="Aldine401 BT"/>
                <a:ea typeface="DejaVu Sans"/>
              </a:rPr>
              <a:t>BOLETIN DE CALIFICACIONES</a:t>
            </a:r>
            <a:endParaRPr b="0" lang="es-AR" sz="1400" spc="-1" strike="noStrike">
              <a:latin typeface="Arial"/>
            </a:endParaRPr>
          </a:p>
        </p:txBody>
      </p:sp>
      <p:graphicFrame>
        <p:nvGraphicFramePr>
          <p:cNvPr id="61" name=""/>
          <p:cNvGraphicFramePr/>
          <p:nvPr/>
        </p:nvGraphicFramePr>
        <p:xfrm>
          <a:off x="163440" y="4737240"/>
          <a:ext cx="6554160" cy="3261600"/>
        </p:xfrm>
        <a:graphic>
          <a:graphicData uri="http://schemas.openxmlformats.org/drawingml/2006/table">
            <a:tbl>
              <a:tblPr/>
              <a:tblGrid>
                <a:gridCol w="2257920"/>
                <a:gridCol w="728640"/>
                <a:gridCol w="1456200"/>
                <a:gridCol w="729000"/>
                <a:gridCol w="138276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ASIGNATURA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REC. DIC.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FEB. MAR.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704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EQUIVALENCIA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REC. DIC.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FEB. MAR.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16704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2" name=""/>
          <p:cNvGraphicFramePr/>
          <p:nvPr/>
        </p:nvGraphicFramePr>
        <p:xfrm>
          <a:off x="171360" y="7881840"/>
          <a:ext cx="1745640" cy="1031400"/>
        </p:xfrm>
        <a:graphic>
          <a:graphicData uri="http://schemas.openxmlformats.org/drawingml/2006/table">
            <a:tbl>
              <a:tblPr/>
              <a:tblGrid>
                <a:gridCol w="1046880"/>
                <a:gridCol w="699120"/>
              </a:tblGrid>
              <a:tr h="257760">
                <a:tc gridSpan="2"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INASISTENCIAS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0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JUSTIFICADAS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7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0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INJUSTIFICADAS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7400"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TOTALES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"/>
          <p:cNvGraphicFramePr/>
          <p:nvPr/>
        </p:nvGraphicFramePr>
        <p:xfrm>
          <a:off x="2000160" y="7881840"/>
          <a:ext cx="4725360" cy="1031400"/>
        </p:xfrm>
        <a:graphic>
          <a:graphicData uri="http://schemas.openxmlformats.org/drawingml/2006/table">
            <a:tbl>
              <a:tblPr/>
              <a:tblGrid>
                <a:gridCol w="3249000"/>
                <a:gridCol w="1476720"/>
              </a:tblGrid>
              <a:tr h="1983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SANCIONES DISCIPLINARIAS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TOTAL DEL AÑO: 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833400">
                <a:tc gridSpan="2"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grpSp>
        <p:nvGrpSpPr>
          <p:cNvPr id="64" name=""/>
          <p:cNvGrpSpPr/>
          <p:nvPr/>
        </p:nvGrpSpPr>
        <p:grpSpPr>
          <a:xfrm>
            <a:off x="4797360" y="9468000"/>
            <a:ext cx="1293840" cy="217800"/>
            <a:chOff x="4797360" y="9468000"/>
            <a:chExt cx="1293840" cy="217800"/>
          </a:xfrm>
        </p:grpSpPr>
        <p:sp>
          <p:nvSpPr>
            <p:cNvPr id="65" name=""/>
            <p:cNvSpPr/>
            <p:nvPr/>
          </p:nvSpPr>
          <p:spPr>
            <a:xfrm>
              <a:off x="4797360" y="9470880"/>
              <a:ext cx="1293480" cy="21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buNone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333080"/>
                  <a:tab algn="l" pos="10782360"/>
                </a:tabLst>
              </a:pPr>
              <a:r>
                <a:rPr b="0" lang="es-CO" sz="800" spc="-1" strike="noStrike">
                  <a:solidFill>
                    <a:srgbClr val="000000"/>
                  </a:solidFill>
                  <a:latin typeface="Aldine401 BT"/>
                  <a:ea typeface="DejaVu Sans"/>
                </a:rPr>
                <a:t>FIRMA RECTOR/A</a:t>
              </a:r>
              <a:endParaRPr b="0" lang="es-AR" sz="800" spc="-1" strike="noStrike"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4797360" y="9468000"/>
              <a:ext cx="129384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7" name=""/>
          <p:cNvGrpSpPr/>
          <p:nvPr/>
        </p:nvGrpSpPr>
        <p:grpSpPr>
          <a:xfrm>
            <a:off x="620640" y="9468000"/>
            <a:ext cx="1654200" cy="338040"/>
            <a:chOff x="620640" y="9468000"/>
            <a:chExt cx="1654200" cy="338040"/>
          </a:xfrm>
        </p:grpSpPr>
        <p:sp>
          <p:nvSpPr>
            <p:cNvPr id="68" name=""/>
            <p:cNvSpPr/>
            <p:nvPr/>
          </p:nvSpPr>
          <p:spPr>
            <a:xfrm>
              <a:off x="620640" y="9469440"/>
              <a:ext cx="1653840" cy="336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buNone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333080"/>
                  <a:tab algn="l" pos="10782360"/>
                </a:tabLst>
              </a:pPr>
              <a:r>
                <a:rPr b="0" lang="es-CO" sz="800" spc="-1" strike="noStrike">
                  <a:solidFill>
                    <a:srgbClr val="000000"/>
                  </a:solidFill>
                  <a:latin typeface="Aldine401 BT"/>
                  <a:ea typeface="DejaVu Sans"/>
                </a:rPr>
                <a:t>FIRMA  PADRE/MADRE/TUTOR</a:t>
              </a:r>
              <a:endParaRPr b="0" lang="es-AR" sz="800" spc="-1" strike="noStrike"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620640" y="9468000"/>
              <a:ext cx="165420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0" name=""/>
          <p:cNvSpPr/>
          <p:nvPr/>
        </p:nvSpPr>
        <p:spPr>
          <a:xfrm>
            <a:off x="3852720" y="166680"/>
            <a:ext cx="2881080" cy="823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INCORPORADO A LA ENSEÑANZA OFICIAL A-781</a:t>
            </a:r>
            <a:endParaRPr b="0" lang="es-AR" sz="1600" spc="-1" strike="noStrike"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3"/>
          <a:stretch/>
        </p:blipFill>
        <p:spPr>
          <a:xfrm>
            <a:off x="3135240" y="171360"/>
            <a:ext cx="598320" cy="6044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72" name=""/>
          <p:cNvGraphicFramePr/>
          <p:nvPr/>
        </p:nvGraphicFramePr>
        <p:xfrm>
          <a:off x="160200" y="1797120"/>
          <a:ext cx="6582960" cy="2807640"/>
        </p:xfrm>
        <a:graphic>
          <a:graphicData uri="http://schemas.openxmlformats.org/drawingml/2006/table">
            <a:tbl>
              <a:tblPr/>
              <a:tblGrid>
                <a:gridCol w="2094480"/>
                <a:gridCol w="554400"/>
                <a:gridCol w="555480"/>
                <a:gridCol w="555840"/>
                <a:gridCol w="633600"/>
                <a:gridCol w="1111680"/>
                <a:gridCol w="1077840"/>
              </a:tblGrid>
              <a:tr h="228600">
                <a:tc>
                  <a:tcPr anchor="t" marL="91440" marR="91440">
                    <a:lnL>
                      <a:noFill/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9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CALIFICACIONES</a:t>
                      </a:r>
                      <a:endParaRPr b="0" lang="es-AR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ASIGNATURAS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1º TRIM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2º TRIM.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3º TRIM.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PROM. ANUAL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CALIFICACION DEFINITIVA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CONDICIÓN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84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704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8576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12760">
                <a:tc gridSpan="4"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PROMEDIO GENERAL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noFill/>
                    </a:lnR>
                    <a:lnT w="2880">
                      <a:solidFill>
                        <a:srgbClr val="000000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 w="2880">
                      <a:solidFill>
                        <a:srgbClr val="000000"/>
                      </a:solidFill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1800360" y="1084320"/>
            <a:ext cx="3310920" cy="3809520"/>
          </a:xfrm>
          <a:prstGeom prst="rect">
            <a:avLst/>
          </a:prstGeom>
          <a:ln w="0">
            <a:noFill/>
          </a:ln>
        </p:spPr>
      </p:pic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1801800" y="5099040"/>
            <a:ext cx="3311280" cy="3809520"/>
          </a:xfrm>
          <a:prstGeom prst="rect">
            <a:avLst/>
          </a:prstGeom>
          <a:ln w="0">
            <a:noFill/>
          </a:ln>
        </p:spPr>
      </p:pic>
      <p:sp>
        <p:nvSpPr>
          <p:cNvPr id="75" name=""/>
          <p:cNvSpPr/>
          <p:nvPr/>
        </p:nvSpPr>
        <p:spPr>
          <a:xfrm>
            <a:off x="1484280" y="212760"/>
            <a:ext cx="5257440" cy="73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INSTITUTO DE ESTUDIOS SUPERIORES DE BUENOS AIRES</a:t>
            </a:r>
            <a:endParaRPr b="0" lang="es-AR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INCORPORADO A LA ENSEÑANZA OFICIAL A-781</a:t>
            </a:r>
            <a:endParaRPr b="0" lang="es-AR" sz="1400" spc="-1" strike="noStrike"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320840" y="704880"/>
            <a:ext cx="5400360" cy="555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APELLIDO Y NOMBRE:</a:t>
            </a:r>
            <a:endParaRPr b="0" lang="es-AR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DOCUMENTO:</a:t>
            </a:r>
            <a:endParaRPr b="0" lang="es-AR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AÑO: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TURNO: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DIVISIÓN: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CICLO LECTIVO:</a:t>
            </a:r>
            <a:endParaRPr b="0" lang="es-AR" sz="1000" spc="-1" strike="noStrike"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15920" y="1284120"/>
            <a:ext cx="1872720" cy="51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400" spc="-1" strike="noStrike">
                <a:solidFill>
                  <a:srgbClr val="000000"/>
                </a:solidFill>
                <a:latin typeface="Aldine401 BT"/>
                <a:ea typeface="DejaVu Sans"/>
              </a:rPr>
              <a:t>BOLETIN DE CALIFICACIONES</a:t>
            </a:r>
            <a:endParaRPr b="0" lang="es-AR" sz="1400" spc="-1" strike="noStrike">
              <a:latin typeface="Arial"/>
            </a:endParaRPr>
          </a:p>
        </p:txBody>
      </p:sp>
      <p:graphicFrame>
        <p:nvGraphicFramePr>
          <p:cNvPr id="78" name=""/>
          <p:cNvGraphicFramePr/>
          <p:nvPr/>
        </p:nvGraphicFramePr>
        <p:xfrm>
          <a:off x="163440" y="4410000"/>
          <a:ext cx="6554160" cy="3598200"/>
        </p:xfrm>
        <a:graphic>
          <a:graphicData uri="http://schemas.openxmlformats.org/drawingml/2006/table">
            <a:tbl>
              <a:tblPr/>
              <a:tblGrid>
                <a:gridCol w="2257920"/>
                <a:gridCol w="728640"/>
                <a:gridCol w="1456200"/>
                <a:gridCol w="729000"/>
                <a:gridCol w="1382760"/>
              </a:tblGrid>
              <a:tr h="3049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ASIGNATURA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REC. DIC.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FEB. MAR.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84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PREVIA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REC. DIC.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FEB. MAR.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067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EQUIVALENCIA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REC. DIC.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FEB. MAR.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9" name=""/>
          <p:cNvGraphicFramePr/>
          <p:nvPr/>
        </p:nvGraphicFramePr>
        <p:xfrm>
          <a:off x="171360" y="8072280"/>
          <a:ext cx="1745640" cy="1031400"/>
        </p:xfrm>
        <a:graphic>
          <a:graphicData uri="http://schemas.openxmlformats.org/drawingml/2006/table">
            <a:tbl>
              <a:tblPr/>
              <a:tblGrid>
                <a:gridCol w="1046880"/>
                <a:gridCol w="699120"/>
              </a:tblGrid>
              <a:tr h="257760">
                <a:tc gridSpan="2"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INASISTENCIAS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59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0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JUSTIFICADAS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7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0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INJUSTIFICADAS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7400"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TOTALES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"/>
          <p:cNvGraphicFramePr/>
          <p:nvPr/>
        </p:nvGraphicFramePr>
        <p:xfrm>
          <a:off x="2000160" y="8072280"/>
          <a:ext cx="4725360" cy="1031400"/>
        </p:xfrm>
        <a:graphic>
          <a:graphicData uri="http://schemas.openxmlformats.org/drawingml/2006/table">
            <a:tbl>
              <a:tblPr/>
              <a:tblGrid>
                <a:gridCol w="3249000"/>
                <a:gridCol w="1476720"/>
              </a:tblGrid>
              <a:tr h="1987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SANCIONES DISCIPLINARIAS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TOTAL DEL AÑO: 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833040">
                <a:tc gridSpan="2"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grpSp>
        <p:nvGrpSpPr>
          <p:cNvPr id="81" name=""/>
          <p:cNvGrpSpPr/>
          <p:nvPr/>
        </p:nvGrpSpPr>
        <p:grpSpPr>
          <a:xfrm>
            <a:off x="4797360" y="9545760"/>
            <a:ext cx="1293840" cy="217800"/>
            <a:chOff x="4797360" y="9545760"/>
            <a:chExt cx="1293840" cy="217800"/>
          </a:xfrm>
        </p:grpSpPr>
        <p:sp>
          <p:nvSpPr>
            <p:cNvPr id="82" name=""/>
            <p:cNvSpPr/>
            <p:nvPr/>
          </p:nvSpPr>
          <p:spPr>
            <a:xfrm>
              <a:off x="4797360" y="9548640"/>
              <a:ext cx="1293480" cy="21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buNone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333080"/>
                  <a:tab algn="l" pos="10782360"/>
                </a:tabLst>
              </a:pPr>
              <a:r>
                <a:rPr b="0" lang="es-CO" sz="800" spc="-1" strike="noStrike">
                  <a:solidFill>
                    <a:srgbClr val="000000"/>
                  </a:solidFill>
                  <a:latin typeface="Aldine401 BT"/>
                  <a:ea typeface="DejaVu Sans"/>
                </a:rPr>
                <a:t>FIRMA RECTOR/A</a:t>
              </a:r>
              <a:endParaRPr b="0" lang="es-AR" sz="800" spc="-1" strike="noStrike"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4797360" y="9545760"/>
              <a:ext cx="129384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4" name=""/>
          <p:cNvGrpSpPr/>
          <p:nvPr/>
        </p:nvGrpSpPr>
        <p:grpSpPr>
          <a:xfrm>
            <a:off x="620640" y="9545760"/>
            <a:ext cx="1654200" cy="338040"/>
            <a:chOff x="620640" y="9545760"/>
            <a:chExt cx="1654200" cy="338040"/>
          </a:xfrm>
        </p:grpSpPr>
        <p:sp>
          <p:nvSpPr>
            <p:cNvPr id="85" name=""/>
            <p:cNvSpPr/>
            <p:nvPr/>
          </p:nvSpPr>
          <p:spPr>
            <a:xfrm>
              <a:off x="620640" y="9547200"/>
              <a:ext cx="1653840" cy="336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buNone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333080"/>
                  <a:tab algn="l" pos="10782360"/>
                </a:tabLst>
              </a:pPr>
              <a:r>
                <a:rPr b="0" lang="es-CO" sz="800" spc="-1" strike="noStrike">
                  <a:solidFill>
                    <a:srgbClr val="000000"/>
                  </a:solidFill>
                  <a:latin typeface="Aldine401 BT"/>
                  <a:ea typeface="DejaVu Sans"/>
                </a:rPr>
                <a:t>FIRMA  PADRE/MADRE/TUTOR</a:t>
              </a:r>
              <a:endParaRPr b="0" lang="es-AR" sz="800" spc="-1" strike="noStrike"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620640" y="9545760"/>
              <a:ext cx="165420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87" name="" descr=""/>
          <p:cNvPicPr/>
          <p:nvPr/>
        </p:nvPicPr>
        <p:blipFill>
          <a:blip r:embed="rId3"/>
          <a:stretch/>
        </p:blipFill>
        <p:spPr>
          <a:xfrm>
            <a:off x="299880" y="378000"/>
            <a:ext cx="900000" cy="9108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88" name=""/>
          <p:cNvGraphicFramePr/>
          <p:nvPr/>
        </p:nvGraphicFramePr>
        <p:xfrm>
          <a:off x="160200" y="1521000"/>
          <a:ext cx="6582960" cy="2807280"/>
        </p:xfrm>
        <a:graphic>
          <a:graphicData uri="http://schemas.openxmlformats.org/drawingml/2006/table">
            <a:tbl>
              <a:tblPr/>
              <a:tblGrid>
                <a:gridCol w="2094480"/>
                <a:gridCol w="554400"/>
                <a:gridCol w="555480"/>
                <a:gridCol w="555840"/>
                <a:gridCol w="633600"/>
                <a:gridCol w="1111680"/>
                <a:gridCol w="1077840"/>
              </a:tblGrid>
              <a:tr h="228600">
                <a:tc>
                  <a:tcPr anchor="t" marL="91440" marR="91440">
                    <a:lnL>
                      <a:noFill/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9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CALIFICACIONES</a:t>
                      </a:r>
                      <a:endParaRPr b="0" lang="es-AR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34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ASIGNATURAS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1º TRIM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2º TRIM.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3º TRIM.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PROM. ANUAL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CALIFICACION DEFINITIVA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CONDICIÓN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84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704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8576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12760">
                <a:tc gridSpan="4"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PROMEDIO GENERAL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noFill/>
                    </a:lnR>
                    <a:lnT w="2880">
                      <a:solidFill>
                        <a:srgbClr val="000000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 w="2880">
                      <a:solidFill>
                        <a:srgbClr val="000000"/>
                      </a:solidFill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" descr=""/>
          <p:cNvPicPr/>
          <p:nvPr/>
        </p:nvPicPr>
        <p:blipFill>
          <a:blip r:embed="rId1"/>
          <a:srcRect l="5407" t="4595" r="2154" b="884"/>
          <a:stretch/>
        </p:blipFill>
        <p:spPr>
          <a:xfrm>
            <a:off x="1980000" y="1260000"/>
            <a:ext cx="3059280" cy="359928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2"/>
          <a:srcRect l="5366" t="3146" r="2195" b="2333"/>
          <a:stretch/>
        </p:blipFill>
        <p:spPr>
          <a:xfrm>
            <a:off x="1980000" y="5220000"/>
            <a:ext cx="3059280" cy="359928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1260360" y="212760"/>
            <a:ext cx="5481360" cy="492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300" spc="-1" strike="noStrike">
                <a:solidFill>
                  <a:srgbClr val="000000"/>
                </a:solidFill>
                <a:latin typeface="Calibri"/>
                <a:ea typeface="DejaVu Sans"/>
              </a:rPr>
              <a:t>INSTITUTO DE ESTUDIOS SUPERIORES DE BUENOS AIRES</a:t>
            </a:r>
            <a:endParaRPr b="0" lang="es-AR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300" spc="-1" strike="noStrike">
                <a:solidFill>
                  <a:srgbClr val="000000"/>
                </a:solidFill>
                <a:latin typeface="Calibri"/>
                <a:ea typeface="DejaVu Sans"/>
              </a:rPr>
              <a:t>INCORPORADO A LA ENSEÑANZA OFICIAL A-781</a:t>
            </a:r>
            <a:endParaRPr b="0" lang="es-AR" sz="1300" spc="-1" strike="noStrike"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15920" y="1284120"/>
            <a:ext cx="1872720" cy="51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400" spc="-1" strike="noStrike">
                <a:solidFill>
                  <a:srgbClr val="000000"/>
                </a:solidFill>
                <a:latin typeface="Aldine401 BT"/>
                <a:ea typeface="DejaVu Sans"/>
              </a:rPr>
              <a:t>BOLETIN DE CALIFICACIONES</a:t>
            </a:r>
            <a:endParaRPr b="0" lang="es-AR" sz="1400" spc="-1" strike="noStrike">
              <a:latin typeface="Arial"/>
            </a:endParaRPr>
          </a:p>
        </p:txBody>
      </p:sp>
      <p:graphicFrame>
        <p:nvGraphicFramePr>
          <p:cNvPr id="93" name=""/>
          <p:cNvGraphicFramePr/>
          <p:nvPr/>
        </p:nvGraphicFramePr>
        <p:xfrm>
          <a:off x="163440" y="4410000"/>
          <a:ext cx="6554160" cy="3598200"/>
        </p:xfrm>
        <a:graphic>
          <a:graphicData uri="http://schemas.openxmlformats.org/drawingml/2006/table">
            <a:tbl>
              <a:tblPr/>
              <a:tblGrid>
                <a:gridCol w="2257920"/>
                <a:gridCol w="728640"/>
                <a:gridCol w="1456200"/>
                <a:gridCol w="729000"/>
                <a:gridCol w="1382760"/>
              </a:tblGrid>
              <a:tr h="3049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ASIGNATURA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REC. DIC.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FEB. MAR.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84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PREVIA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REC. DIC.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FEB. MAR.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067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EQUIVALENCIA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REC. DIC.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NOTA FEB. MAR.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FIRMA PROFESOR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4" name=""/>
          <p:cNvGraphicFramePr/>
          <p:nvPr/>
        </p:nvGraphicFramePr>
        <p:xfrm>
          <a:off x="171360" y="8072280"/>
          <a:ext cx="1745640" cy="1031400"/>
        </p:xfrm>
        <a:graphic>
          <a:graphicData uri="http://schemas.openxmlformats.org/drawingml/2006/table">
            <a:tbl>
              <a:tblPr/>
              <a:tblGrid>
                <a:gridCol w="1046880"/>
                <a:gridCol w="699120"/>
              </a:tblGrid>
              <a:tr h="257760">
                <a:tc gridSpan="2"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INASISTENCIAS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59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0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JUSTIFICADAS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7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0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INJUSTIFICADAS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7400"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TOTALES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"/>
          <p:cNvGraphicFramePr/>
          <p:nvPr/>
        </p:nvGraphicFramePr>
        <p:xfrm>
          <a:off x="2000160" y="8072280"/>
          <a:ext cx="4725360" cy="1031400"/>
        </p:xfrm>
        <a:graphic>
          <a:graphicData uri="http://schemas.openxmlformats.org/drawingml/2006/table">
            <a:tbl>
              <a:tblPr/>
              <a:tblGrid>
                <a:gridCol w="3249000"/>
                <a:gridCol w="1476720"/>
              </a:tblGrid>
              <a:tr h="1987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SANCIONES DISCIPLINARIAS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TOTAL DEL AÑO: 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833040">
                <a:tc gridSpan="2"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grpSp>
        <p:nvGrpSpPr>
          <p:cNvPr id="96" name=""/>
          <p:cNvGrpSpPr/>
          <p:nvPr/>
        </p:nvGrpSpPr>
        <p:grpSpPr>
          <a:xfrm>
            <a:off x="4797360" y="9545760"/>
            <a:ext cx="1293840" cy="217800"/>
            <a:chOff x="4797360" y="9545760"/>
            <a:chExt cx="1293840" cy="217800"/>
          </a:xfrm>
        </p:grpSpPr>
        <p:sp>
          <p:nvSpPr>
            <p:cNvPr id="97" name=""/>
            <p:cNvSpPr/>
            <p:nvPr/>
          </p:nvSpPr>
          <p:spPr>
            <a:xfrm>
              <a:off x="4797360" y="9548640"/>
              <a:ext cx="1293480" cy="21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buNone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333080"/>
                  <a:tab algn="l" pos="10782360"/>
                </a:tabLst>
              </a:pPr>
              <a:r>
                <a:rPr b="0" lang="es-CO" sz="800" spc="-1" strike="noStrike">
                  <a:solidFill>
                    <a:srgbClr val="000000"/>
                  </a:solidFill>
                  <a:latin typeface="Aldine401 BT"/>
                  <a:ea typeface="DejaVu Sans"/>
                </a:rPr>
                <a:t>FIRMA RECTOR/A</a:t>
              </a:r>
              <a:endParaRPr b="0" lang="es-AR" sz="800" spc="-1" strike="noStrike"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4797360" y="9545760"/>
              <a:ext cx="129384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9" name=""/>
          <p:cNvGrpSpPr/>
          <p:nvPr/>
        </p:nvGrpSpPr>
        <p:grpSpPr>
          <a:xfrm>
            <a:off x="620640" y="9545760"/>
            <a:ext cx="1654200" cy="338040"/>
            <a:chOff x="620640" y="9545760"/>
            <a:chExt cx="1654200" cy="338040"/>
          </a:xfrm>
        </p:grpSpPr>
        <p:sp>
          <p:nvSpPr>
            <p:cNvPr id="100" name=""/>
            <p:cNvSpPr/>
            <p:nvPr/>
          </p:nvSpPr>
          <p:spPr>
            <a:xfrm>
              <a:off x="620640" y="9547200"/>
              <a:ext cx="1653840" cy="336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buNone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333080"/>
                  <a:tab algn="l" pos="10782360"/>
                </a:tabLst>
              </a:pPr>
              <a:r>
                <a:rPr b="0" lang="es-CO" sz="800" spc="-1" strike="noStrike">
                  <a:solidFill>
                    <a:srgbClr val="000000"/>
                  </a:solidFill>
                  <a:latin typeface="Aldine401 BT"/>
                  <a:ea typeface="DejaVu Sans"/>
                </a:rPr>
                <a:t>FIRMA  PADRE/MADRE/TUTOR</a:t>
              </a:r>
              <a:endParaRPr b="0" lang="es-AR" sz="800" spc="-1" strike="noStrike"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620640" y="9545760"/>
              <a:ext cx="165420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299880" y="378000"/>
            <a:ext cx="900000" cy="9108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03" name=""/>
          <p:cNvGraphicFramePr/>
          <p:nvPr/>
        </p:nvGraphicFramePr>
        <p:xfrm>
          <a:off x="160200" y="1521000"/>
          <a:ext cx="6582960" cy="2807280"/>
        </p:xfrm>
        <a:graphic>
          <a:graphicData uri="http://schemas.openxmlformats.org/drawingml/2006/table">
            <a:tbl>
              <a:tblPr/>
              <a:tblGrid>
                <a:gridCol w="2094480"/>
                <a:gridCol w="554400"/>
                <a:gridCol w="555480"/>
                <a:gridCol w="555840"/>
                <a:gridCol w="633600"/>
                <a:gridCol w="1111680"/>
                <a:gridCol w="1077840"/>
              </a:tblGrid>
              <a:tr h="228600">
                <a:tc>
                  <a:tcPr anchor="t" marL="91440" marR="91440">
                    <a:lnL>
                      <a:noFill/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9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CALIFICACIONES</a:t>
                      </a:r>
                      <a:endParaRPr b="0" lang="es-AR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34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ASIGNATURAS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1º CUAT.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2º CUAT.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3º TRIM.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PROM. ANUAL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CALIFICACION DEFINITIVA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CONDICIÓN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84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66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48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704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6812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85760"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12760">
                <a:tc gridSpan="4"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PROMEDIO GENERAL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noFill/>
                    </a:lnR>
                    <a:lnT w="2880">
                      <a:solidFill>
                        <a:srgbClr val="000000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 w="2880">
                      <a:solidFill>
                        <a:srgbClr val="000000"/>
                      </a:solidFill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" name=""/>
          <p:cNvSpPr/>
          <p:nvPr/>
        </p:nvSpPr>
        <p:spPr>
          <a:xfrm>
            <a:off x="1320840" y="704880"/>
            <a:ext cx="5400360" cy="555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APELLIDO Y NOMBRE:</a:t>
            </a:r>
            <a:endParaRPr b="0" lang="es-AR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DOCUMENTO:</a:t>
            </a:r>
            <a:endParaRPr b="0" lang="es-AR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AÑO: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TURNO: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DIVISIÓN: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CICLO LECTIVO:</a:t>
            </a:r>
            <a:endParaRPr b="0" lang="es-A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800360" y="1084320"/>
            <a:ext cx="3310920" cy="380952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1801800" y="5099040"/>
            <a:ext cx="3311280" cy="3809520"/>
          </a:xfrm>
          <a:prstGeom prst="rect">
            <a:avLst/>
          </a:prstGeom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1484280" y="212760"/>
            <a:ext cx="5257440" cy="73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INSTITUTO DE ESTUDIOS SUPERIORES DE BUENOS AIRES</a:t>
            </a:r>
            <a:endParaRPr b="0" lang="es-AR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INCORPORADO A LA ENSEÑANZA OFICIAL A-781</a:t>
            </a:r>
            <a:endParaRPr b="0" lang="es-AR" sz="1400" spc="-1" strike="noStrike"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320840" y="704880"/>
            <a:ext cx="5400360" cy="555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APELLIDO Y NOMBRE:</a:t>
            </a:r>
            <a:endParaRPr b="0" lang="es-AR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DOCUMENTO:</a:t>
            </a:r>
            <a:endParaRPr b="0" lang="es-AR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AÑO: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TURNO: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DIVISIÓN: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CICLO LECTIVO:</a:t>
            </a:r>
            <a:endParaRPr b="0" lang="es-AR" sz="1000" spc="-1" strike="noStrike"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15920" y="1284120"/>
            <a:ext cx="1872720" cy="51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400" spc="-1" strike="noStrike">
                <a:solidFill>
                  <a:srgbClr val="000000"/>
                </a:solidFill>
                <a:latin typeface="Aldine401 BT"/>
                <a:ea typeface="DejaVu Sans"/>
              </a:rPr>
              <a:t>BOLETIN DE INASISTENCIAS</a:t>
            </a:r>
            <a:endParaRPr b="0" lang="es-AR" sz="1400" spc="-1" strike="noStrike">
              <a:latin typeface="Arial"/>
            </a:endParaRPr>
          </a:p>
        </p:txBody>
      </p:sp>
      <p:graphicFrame>
        <p:nvGraphicFramePr>
          <p:cNvPr id="110" name=""/>
          <p:cNvGraphicFramePr/>
          <p:nvPr/>
        </p:nvGraphicFramePr>
        <p:xfrm>
          <a:off x="287280" y="1784520"/>
          <a:ext cx="6435000" cy="6209280"/>
        </p:xfrm>
        <a:graphic>
          <a:graphicData uri="http://schemas.openxmlformats.org/drawingml/2006/table">
            <a:tbl>
              <a:tblPr/>
              <a:tblGrid>
                <a:gridCol w="525960"/>
                <a:gridCol w="1718640"/>
                <a:gridCol w="429120"/>
                <a:gridCol w="429480"/>
                <a:gridCol w="218880"/>
                <a:gridCol w="536760"/>
                <a:gridCol w="1718640"/>
                <a:gridCol w="429120"/>
                <a:gridCol w="428400"/>
              </a:tblGrid>
              <a:tr h="199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FECHA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TIPO DE FALTA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CANT.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JUST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FECHA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TIPO DE FALTA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CANT.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7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JUST</a:t>
                      </a:r>
                      <a:endParaRPr b="0" lang="es-AR" sz="700" spc="-1" strike="noStrike">
                        <a:latin typeface="Arial"/>
                      </a:endParaRPr>
                    </a:p>
                  </a:txBody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980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160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980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052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160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980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980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9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980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980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160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980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160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980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00160"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1" name=""/>
          <p:cNvGraphicFramePr/>
          <p:nvPr/>
        </p:nvGraphicFramePr>
        <p:xfrm>
          <a:off x="276120" y="8072280"/>
          <a:ext cx="1745640" cy="1031400"/>
        </p:xfrm>
        <a:graphic>
          <a:graphicData uri="http://schemas.openxmlformats.org/drawingml/2006/table">
            <a:tbl>
              <a:tblPr/>
              <a:tblGrid>
                <a:gridCol w="1048680"/>
                <a:gridCol w="697320"/>
              </a:tblGrid>
              <a:tr h="257760">
                <a:tc gridSpan="2"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INASISTENCIAS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592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0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JUSTIFICADAS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74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0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INJUSTIFICADAS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7400">
                <a:tc>
                  <a:txBody>
                    <a:bodyPr lIns="90000" rIns="90000" anchor="t">
                      <a:noAutofit/>
                    </a:bodyPr>
                    <a:p>
                      <a:pPr algn="r"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  <a:tab algn="l" pos="10333080"/>
                          <a:tab algn="l" pos="10782360"/>
                        </a:tabLst>
                      </a:pPr>
                      <a:r>
                        <a:rPr b="1" lang="es-CO" sz="800" spc="-1" strike="noStrike">
                          <a:solidFill>
                            <a:srgbClr val="000000"/>
                          </a:solidFill>
                          <a:latin typeface="Aldine401 BT"/>
                        </a:rPr>
                        <a:t>TOTALES</a:t>
                      </a:r>
                      <a:endParaRPr b="0" lang="es-AR" sz="800" spc="-1" strike="noStrike">
                        <a:latin typeface="Arial"/>
                      </a:endParaRPr>
                    </a:p>
                  </a:txBody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cPr anchor="t" marL="90000" marR="9000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pSp>
        <p:nvGrpSpPr>
          <p:cNvPr id="112" name=""/>
          <p:cNvGrpSpPr/>
          <p:nvPr/>
        </p:nvGrpSpPr>
        <p:grpSpPr>
          <a:xfrm>
            <a:off x="4797360" y="9545760"/>
            <a:ext cx="1293840" cy="217800"/>
            <a:chOff x="4797360" y="9545760"/>
            <a:chExt cx="1293840" cy="217800"/>
          </a:xfrm>
        </p:grpSpPr>
        <p:sp>
          <p:nvSpPr>
            <p:cNvPr id="113" name=""/>
            <p:cNvSpPr/>
            <p:nvPr/>
          </p:nvSpPr>
          <p:spPr>
            <a:xfrm>
              <a:off x="4797360" y="9548640"/>
              <a:ext cx="1293480" cy="21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buNone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333080"/>
                  <a:tab algn="l" pos="10782360"/>
                </a:tabLst>
              </a:pPr>
              <a:r>
                <a:rPr b="0" lang="es-CO" sz="800" spc="-1" strike="noStrike">
                  <a:solidFill>
                    <a:srgbClr val="000000"/>
                  </a:solidFill>
                  <a:latin typeface="Aldine401 BT"/>
                  <a:ea typeface="DejaVu Sans"/>
                </a:rPr>
                <a:t>FIRMA RECTOR/A</a:t>
              </a:r>
              <a:endParaRPr b="0" lang="es-AR" sz="800" spc="-1" strike="noStrike">
                <a:latin typeface="Arial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4797360" y="9545760"/>
              <a:ext cx="129384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5" name=""/>
          <p:cNvGrpSpPr/>
          <p:nvPr/>
        </p:nvGrpSpPr>
        <p:grpSpPr>
          <a:xfrm>
            <a:off x="620640" y="9545760"/>
            <a:ext cx="1654200" cy="338040"/>
            <a:chOff x="620640" y="9545760"/>
            <a:chExt cx="1654200" cy="338040"/>
          </a:xfrm>
        </p:grpSpPr>
        <p:sp>
          <p:nvSpPr>
            <p:cNvPr id="116" name=""/>
            <p:cNvSpPr/>
            <p:nvPr/>
          </p:nvSpPr>
          <p:spPr>
            <a:xfrm>
              <a:off x="620640" y="9547200"/>
              <a:ext cx="1653840" cy="336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buNone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333080"/>
                  <a:tab algn="l" pos="10782360"/>
                </a:tabLst>
              </a:pPr>
              <a:r>
                <a:rPr b="0" lang="es-CO" sz="800" spc="-1" strike="noStrike">
                  <a:solidFill>
                    <a:srgbClr val="000000"/>
                  </a:solidFill>
                  <a:latin typeface="Aldine401 BT"/>
                  <a:ea typeface="DejaVu Sans"/>
                </a:rPr>
                <a:t>FIRMA  PADRE/MADRE/TUTOR</a:t>
              </a:r>
              <a:endParaRPr b="0" lang="es-AR" sz="800" spc="-1" strike="noStrike">
                <a:latin typeface="Arial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620640" y="9545760"/>
              <a:ext cx="165420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18" name="" descr=""/>
          <p:cNvPicPr/>
          <p:nvPr/>
        </p:nvPicPr>
        <p:blipFill>
          <a:blip r:embed="rId3"/>
          <a:stretch/>
        </p:blipFill>
        <p:spPr>
          <a:xfrm>
            <a:off x="299880" y="378000"/>
            <a:ext cx="900000" cy="91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1800360" y="1084320"/>
            <a:ext cx="3310920" cy="3809520"/>
          </a:xfrm>
          <a:prstGeom prst="rect">
            <a:avLst/>
          </a:prstGeom>
          <a:ln w="0">
            <a:noFill/>
          </a:ln>
        </p:spPr>
      </p:pic>
      <p:pic>
        <p:nvPicPr>
          <p:cNvPr id="120" name="" descr=""/>
          <p:cNvPicPr/>
          <p:nvPr/>
        </p:nvPicPr>
        <p:blipFill>
          <a:blip r:embed="rId2"/>
          <a:stretch/>
        </p:blipFill>
        <p:spPr>
          <a:xfrm>
            <a:off x="1801800" y="5099040"/>
            <a:ext cx="3311280" cy="3809520"/>
          </a:xfrm>
          <a:prstGeom prst="rect">
            <a:avLst/>
          </a:prstGeom>
          <a:ln w="0">
            <a:noFill/>
          </a:ln>
        </p:spPr>
      </p:pic>
      <p:sp>
        <p:nvSpPr>
          <p:cNvPr id="121" name=""/>
          <p:cNvSpPr/>
          <p:nvPr/>
        </p:nvSpPr>
        <p:spPr>
          <a:xfrm>
            <a:off x="1484280" y="212760"/>
            <a:ext cx="5257440" cy="73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INSTITUTO DE ESTUDIOS SUPERIORES DE BUENOS AIRES</a:t>
            </a:r>
            <a:endParaRPr b="0" lang="es-AR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INCORPORADO A LA ENSEÑANZA OFICIAL A-781</a:t>
            </a:r>
            <a:endParaRPr b="0" lang="es-AR" sz="1400" spc="-1" strike="noStrike"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1320840" y="704880"/>
            <a:ext cx="5400360" cy="555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APELLIDO Y NOMBRE:</a:t>
            </a:r>
            <a:endParaRPr b="0" lang="es-AR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DOCUMENTO:</a:t>
            </a:r>
            <a:endParaRPr b="0" lang="es-AR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AÑO: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TURNO: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DIVISIÓN: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	</a:t>
            </a:r>
            <a:r>
              <a:rPr b="1" lang="es-CO" sz="1000" spc="-1" strike="noStrike">
                <a:solidFill>
                  <a:srgbClr val="000000"/>
                </a:solidFill>
                <a:latin typeface="Aldine401 BT"/>
                <a:ea typeface="DejaVu Sans"/>
              </a:rPr>
              <a:t>CICLO LECTIVO:</a:t>
            </a:r>
            <a:endParaRPr b="0" lang="es-AR" sz="1000" spc="-1" strike="noStrike"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201600" y="1284120"/>
            <a:ext cx="3600000" cy="275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es-CO" sz="1200" spc="-1" strike="noStrike">
                <a:solidFill>
                  <a:srgbClr val="000000"/>
                </a:solidFill>
                <a:latin typeface="Arial"/>
                <a:ea typeface="Arial"/>
              </a:rPr>
              <a:t>SANCIONES DISCIPLINARIAS</a:t>
            </a:r>
            <a:endParaRPr b="0" lang="es-AR" sz="1200" spc="-1" strike="noStrike">
              <a:latin typeface="Arial"/>
            </a:endParaRPr>
          </a:p>
        </p:txBody>
      </p:sp>
      <p:grpSp>
        <p:nvGrpSpPr>
          <p:cNvPr id="124" name=""/>
          <p:cNvGrpSpPr/>
          <p:nvPr/>
        </p:nvGrpSpPr>
        <p:grpSpPr>
          <a:xfrm>
            <a:off x="4797360" y="9545760"/>
            <a:ext cx="1293840" cy="217800"/>
            <a:chOff x="4797360" y="9545760"/>
            <a:chExt cx="1293840" cy="217800"/>
          </a:xfrm>
        </p:grpSpPr>
        <p:sp>
          <p:nvSpPr>
            <p:cNvPr id="125" name=""/>
            <p:cNvSpPr/>
            <p:nvPr/>
          </p:nvSpPr>
          <p:spPr>
            <a:xfrm>
              <a:off x="4797360" y="9548640"/>
              <a:ext cx="1293480" cy="21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buNone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333080"/>
                  <a:tab algn="l" pos="10782360"/>
                </a:tabLst>
              </a:pPr>
              <a:r>
                <a:rPr b="0" lang="es-CO" sz="800" spc="-1" strike="noStrike">
                  <a:solidFill>
                    <a:srgbClr val="000000"/>
                  </a:solidFill>
                  <a:latin typeface="Aldine401 BT"/>
                  <a:ea typeface="DejaVu Sans"/>
                </a:rPr>
                <a:t>FIRMA RECTOR/A</a:t>
              </a:r>
              <a:endParaRPr b="0" lang="es-AR" sz="800" spc="-1" strike="noStrike">
                <a:latin typeface="Arial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4797360" y="9545760"/>
              <a:ext cx="129384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7" name=""/>
          <p:cNvGrpSpPr/>
          <p:nvPr/>
        </p:nvGrpSpPr>
        <p:grpSpPr>
          <a:xfrm>
            <a:off x="620640" y="9545760"/>
            <a:ext cx="1654200" cy="338040"/>
            <a:chOff x="620640" y="9545760"/>
            <a:chExt cx="1654200" cy="338040"/>
          </a:xfrm>
        </p:grpSpPr>
        <p:sp>
          <p:nvSpPr>
            <p:cNvPr id="128" name=""/>
            <p:cNvSpPr/>
            <p:nvPr/>
          </p:nvSpPr>
          <p:spPr>
            <a:xfrm>
              <a:off x="620640" y="9547200"/>
              <a:ext cx="1653840" cy="336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buNone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333080"/>
                  <a:tab algn="l" pos="10782360"/>
                </a:tabLst>
              </a:pPr>
              <a:r>
                <a:rPr b="0" lang="es-CO" sz="800" spc="-1" strike="noStrike">
                  <a:solidFill>
                    <a:srgbClr val="000000"/>
                  </a:solidFill>
                  <a:latin typeface="Aldine401 BT"/>
                  <a:ea typeface="DejaVu Sans"/>
                </a:rPr>
                <a:t>FIRMA  PADRE/MADRE/TUTOR</a:t>
              </a:r>
              <a:endParaRPr b="0" lang="es-AR" sz="800" spc="-1" strike="noStrike">
                <a:latin typeface="Arial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620640" y="9545760"/>
              <a:ext cx="165420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30" name="" descr=""/>
          <p:cNvPicPr/>
          <p:nvPr/>
        </p:nvPicPr>
        <p:blipFill>
          <a:blip r:embed="rId3"/>
          <a:stretch/>
        </p:blipFill>
        <p:spPr>
          <a:xfrm>
            <a:off x="299880" y="378000"/>
            <a:ext cx="900000" cy="91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2012-11-15T23:16:30Z</dcterms:created>
  <dc:creator>WinuE</dc:creator>
  <dc:description/>
  <dc:language>es-AR</dc:language>
  <cp:lastModifiedBy/>
  <dcterms:modified xsi:type="dcterms:W3CDTF">2023-08-08T21:14:38Z</dcterms:modified>
  <cp:revision>35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